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8AC7-9320-B34B-541D-3E0AD53CC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6EDB8-1199-F9EB-3B19-8B5DCAAA7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D57E-E495-1AF7-0893-7CE3E44B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9E41-7403-49AB-4CEB-DAD6FB1A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967A-0468-7E81-2FB5-5A0CCCA7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B1CE-AF57-A2A2-3106-1D51520D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6708-6556-0EB6-6ABE-CBA20F8E8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9E59-EFD5-18EF-1BF9-50DF4D75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95A9E-D449-1C9B-5D3D-4B8F808A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2E203-6131-255B-3177-B132AE0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7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3931-8F5F-E910-7E96-D65B1E0A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0C283-147B-FBFE-805E-055DA749E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00C5E-F1AB-63D7-E9BD-9D6D8999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17901-A3D2-1D0A-48CF-529A840D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6FB1-EFF8-9096-34E2-C708BBD8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4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D7F1-C347-12C4-1EB0-A07B09D9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B8FF-0B95-AB83-34C4-FC88E4366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1EC3A-3B64-C806-D13E-8E1A49255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98ED2-B129-77F7-7983-C82CDA1D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D1777-3119-A9E5-3F58-22984CE5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785D8-75F1-2CD4-D08B-7DCA5AB3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8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6C77-81C6-518D-CF64-9AA98E2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7371-6C3A-E995-3D1C-07810F9F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2E244-18A7-98FF-009C-A5B6F454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4B5F6-D522-0111-5656-92B394BE0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B593E-D1A4-1954-8AD6-139CA0F55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B6742-5427-FE2C-514F-1F448875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5E297-6B58-1A8C-BC5D-DD1CB4F7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C30DB-7FAF-AFD4-B024-90FE08D6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19A5-3FED-217C-E115-F775937B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439EF-1791-E185-86A5-D4CD1AA1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CA040-BC18-EEAC-3809-16DF1B2B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BB2EE-3453-479F-047D-ACD9718B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8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302A1-1EC2-EEF4-D58D-893F1B88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237C0-5EED-66A1-B0AC-06897B67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34E8-E8AB-7CF2-A26C-6786342D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5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30D9-5B56-B731-27C6-9C523095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0633-D1AF-441D-4A3B-19C547BB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CAC39-36DD-6E8A-D972-323D54AAB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7C4B7-773B-3817-FCA0-87C2FA0F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69E35-F7C6-1615-3770-6ACAA79A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F526D-1920-5BBB-F04F-A897AB7E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F563-4751-6E9B-71A6-C5A3D350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FC083-5BFB-638D-4038-9EC37105F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32E7C-74FD-A92D-17F5-47ADFC0D2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58F7-6D81-4FE1-11EC-695DC9A6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F95DA-6C00-5C5F-7972-303E5A95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17A08-6E95-33EF-3611-C031DB38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0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520D-6954-2D7E-AAA1-80F6AE71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CE019-02EB-56A6-1E92-019B0B67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50D41-E7B6-F732-8E02-5DE65C4E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C66B-7D38-031F-15BD-EF8E9A32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5E4B-DCE1-F5F4-0579-938E493E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0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F5EE7-E422-BCAE-A389-E330EC954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4C8E5-369F-CEB4-F034-00649FE9C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5BAB-D4FD-78A8-542F-F48A1A03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08B5-6829-13E7-1D5E-3059AAF7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0B06-A2C4-CAD9-F1B3-825F802A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0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0BFC5-70A4-9267-A1A7-5EA8352D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215A9-FE44-9280-F663-8ADBA9064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577A9-FB4E-BE23-A860-14CA543AC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31AF1-91AC-4133-93C9-CC87F806CAF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4367-8ADD-E694-07E8-1380D7016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0CDC-F6ED-402F-C807-1E32DB641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4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9B93-BC49-2784-FD51-BDFE89003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YouTube Audience Reaction Analysis. US Videos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93518-BCD1-DE09-F9FE-3B57AEB45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Group 2</a:t>
            </a:r>
          </a:p>
          <a:p>
            <a:endParaRPr 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82BB47-135D-1ACE-68C9-BE3799E3E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03161"/>
              </p:ext>
            </p:extLst>
          </p:nvPr>
        </p:nvGraphicFramePr>
        <p:xfrm>
          <a:off x="2210419" y="405193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92015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771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4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TURYA JOHN STEVEN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12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WALWASA NATHAN 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BIRUNGI BRIDGET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2023-B071-22674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62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SSEMANDA JONATHAN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8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NALULE CATHERINE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NSUBUGA NICHOLAS 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12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90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08F5-1E7C-0875-AB0B-ED19D38E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4D66-AE76-324E-F52A-FA3DC6FC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Title:</a:t>
            </a:r>
            <a:r>
              <a:rPr lang="en-US" dirty="0"/>
              <a:t> YouTube audience reaction. (What drives engagement?)</a:t>
            </a:r>
          </a:p>
          <a:p>
            <a:r>
              <a:rPr lang="en-US" b="1" dirty="0"/>
              <a:t>Overall sentiment is positive.</a:t>
            </a:r>
            <a:r>
              <a:rPr lang="en-US" dirty="0"/>
              <a:t> The vast majority of content (64%) generates a positive reaction, indicating a generally favorable audience mood.</a:t>
            </a:r>
          </a:p>
          <a:p>
            <a:r>
              <a:rPr lang="en-US" b="1" dirty="0"/>
              <a:t>Controversy drives clicks.</a:t>
            </a:r>
            <a:r>
              <a:rPr lang="en-US" dirty="0"/>
              <a:t> Despite the positive skew, videos with negative sentiment attract </a:t>
            </a:r>
            <a:r>
              <a:rPr lang="en-US" b="1" dirty="0"/>
              <a:t>21% more views</a:t>
            </a:r>
            <a:r>
              <a:rPr lang="en-US" dirty="0"/>
              <a:t> on average, highlighting the power of controversial or emotionally charged content.</a:t>
            </a:r>
          </a:p>
          <a:p>
            <a:r>
              <a:rPr lang="en-US" b="1" dirty="0"/>
              <a:t>Category matters.</a:t>
            </a:r>
            <a:r>
              <a:rPr lang="en-US" dirty="0"/>
              <a:t> Content in </a:t>
            </a:r>
            <a:r>
              <a:rPr lang="en-US" b="1" dirty="0"/>
              <a:t>travel and events</a:t>
            </a:r>
            <a:r>
              <a:rPr lang="en-US" dirty="0"/>
              <a:t> and </a:t>
            </a:r>
            <a:r>
              <a:rPr lang="en-US" b="1" dirty="0"/>
              <a:t>pets and animals</a:t>
            </a:r>
            <a:r>
              <a:rPr lang="en-US" dirty="0"/>
              <a:t> is received most positively, while </a:t>
            </a:r>
            <a:r>
              <a:rPr lang="en-US" b="1" dirty="0"/>
              <a:t>news and politics</a:t>
            </a:r>
            <a:r>
              <a:rPr lang="en-US" dirty="0"/>
              <a:t> is the most polarizing category.</a:t>
            </a:r>
          </a:p>
          <a:p>
            <a:r>
              <a:rPr lang="en-US" b="1" dirty="0"/>
              <a:t>Top Keywords.</a:t>
            </a:r>
            <a:r>
              <a:rPr lang="en-US" dirty="0"/>
              <a:t> The most frequent topics revolve around "video," "music," "new," and "2018," showing a focus on timely and entertaining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4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A3A6-392B-AD53-7715-7A227D6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D43EB-8F15-42FC-E6A1-984FC410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Why Analyze Audience Reaction?</a:t>
            </a:r>
          </a:p>
          <a:p>
            <a:r>
              <a:rPr lang="en-US" b="1" dirty="0"/>
              <a:t>Objective.</a:t>
            </a:r>
            <a:br>
              <a:rPr lang="en-US" dirty="0"/>
            </a:br>
            <a:r>
              <a:rPr lang="en-US" dirty="0"/>
              <a:t>To analyze audience sentiment and emotional tone from YouTube video data to inform and improve content strategy.</a:t>
            </a:r>
          </a:p>
          <a:p>
            <a:r>
              <a:rPr lang="en-US" b="1" dirty="0"/>
              <a:t>Key Business Questions: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What is the overall sentiment (positive, negative, neutral) of the audience?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Which video categories generate the most positive or negative reactions?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What topics or keywords are associated with different sentiments?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Do videos with stronger emotional reactions receive more engagement?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79B9-37DD-F60D-F344-35216000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59E4-76DE-3BF9-D926-A333484AD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How We Analyzed Sentiment without comments</a:t>
            </a:r>
          </a:p>
          <a:p>
            <a:r>
              <a:rPr lang="en-US" b="1" dirty="0"/>
              <a:t>Data Source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USvideos.csv dataset containing metadata for 40,949 trending videos.</a:t>
            </a:r>
          </a:p>
          <a:p>
            <a:r>
              <a:rPr lang="en-US" b="1" dirty="0"/>
              <a:t>Methodology.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Proxy for comments.</a:t>
            </a:r>
            <a:r>
              <a:rPr lang="en-US" dirty="0"/>
              <a:t> Since user comments were not available, we analyzed the combined text from video </a:t>
            </a:r>
            <a:r>
              <a:rPr lang="en-US" b="1" dirty="0"/>
              <a:t>titles</a:t>
            </a:r>
            <a:r>
              <a:rPr lang="en-US" dirty="0"/>
              <a:t> and </a:t>
            </a:r>
            <a:r>
              <a:rPr lang="en-US" b="1" dirty="0"/>
              <a:t>descriptions</a:t>
            </a:r>
            <a:r>
              <a:rPr lang="en-US" dirty="0"/>
              <a:t>. This serves as a proxy for the content's intended message and emotional framing.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Sentiment analysis.</a:t>
            </a:r>
            <a:r>
              <a:rPr lang="en-US" dirty="0"/>
              <a:t> We used </a:t>
            </a:r>
            <a:r>
              <a:rPr lang="en-US" b="1" dirty="0" err="1"/>
              <a:t>TextBlob</a:t>
            </a:r>
            <a:r>
              <a:rPr lang="en-US" dirty="0"/>
              <a:t>, a natural language processing library, to classify the polarity of the text as positive, negative, or neutral.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Keyword Extraction.</a:t>
            </a:r>
            <a:r>
              <a:rPr lang="en-US" dirty="0"/>
              <a:t> We identified key topics using </a:t>
            </a:r>
            <a:r>
              <a:rPr lang="en-US" b="1" dirty="0"/>
              <a:t>TF-IDF</a:t>
            </a:r>
            <a:r>
              <a:rPr lang="en-US" dirty="0"/>
              <a:t> and </a:t>
            </a:r>
            <a:r>
              <a:rPr lang="en-US" b="1" dirty="0"/>
              <a:t>Word Count</a:t>
            </a:r>
            <a:r>
              <a:rPr lang="en-US" dirty="0"/>
              <a:t> analysis to see what themes were most prominent.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5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EB2-9793-46CB-1311-A28EB8FB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STATISTICS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9636B-E028-614B-EB91-6615A60E2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1088" y="2262188"/>
            <a:ext cx="5889823" cy="391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7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15BA-E408-F288-2A47-1DDC626A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20 TF-IDF TERMS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E10F0-F895-9CE1-7420-B01AF1DAD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5868" y="1690688"/>
            <a:ext cx="4060263" cy="50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3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9941-5F4A-A834-7D20-4DFE0A68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20 MOST FREQUENT 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75D5A-2A84-24F7-DCB5-FA486BB3B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186" y="1482780"/>
            <a:ext cx="10096614" cy="501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9FF6-2F35-3C7F-44BA-F7C6C645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23898-066D-FF20-4CA3-AD9067FB4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5244" y="2141537"/>
            <a:ext cx="45128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4E35-E843-2DED-7FF4-A431E7A7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C1281-48B2-0871-850E-17F0D2A33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497"/>
            <a:ext cx="10515600" cy="43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739B-1776-37AD-ADC6-FC2C6B0F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STATISTICS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0C2754-4481-29B8-46DB-CFB8C4781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140" y="1690688"/>
            <a:ext cx="6264680" cy="474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7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B1F5-E9A1-8CF8-E923-DAC02D47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DISTRUBUTION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5EEAF-A3E7-EE47-F17C-35211D545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31" y="1825625"/>
            <a:ext cx="94056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1B6C-620D-4C60-4E16-F6AD6C79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SENTIMENT ANALYSIS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76B1AC-F7FF-BBEE-236F-8E9ECE0F2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694" y="1217463"/>
            <a:ext cx="7564611" cy="5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0A6A-776A-A4F5-D84D-7F0F4B5D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POSITIVE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E16884-4396-8B68-A293-8109E6D43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249" y="1690688"/>
            <a:ext cx="713085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0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2415-3EA4-D74E-9C16-951A0A0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NEGATIVE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AE6C0-A250-D8AE-5F11-7C0D0F0C1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780" y="1690688"/>
            <a:ext cx="7010400" cy="472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0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F5D5-0175-5F3C-E9BD-B88B1321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NEUTRAL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6D76E2-8635-88FD-2636-979BDAB68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389" y="1561143"/>
            <a:ext cx="7323221" cy="49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8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9BAD-26FE-81CE-7C6C-E530B6BF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ENGAGEMENT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A05A9-55D0-F70B-479B-219BCC90F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4575"/>
            <a:ext cx="10515600" cy="349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0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82B2-8F55-A0AD-7521-EB639780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 OF SENTIMENT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086D64-D727-E9C2-E2A1-7A503B1B5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5841" y="1690688"/>
            <a:ext cx="558766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2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6E61-B080-9100-56AB-600C06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Interpretation - Emotional Tone &amp; Response Patterns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9072E-C5BF-41E5-0876-7B0F7CDD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Emotional tone.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Overall mood.</a:t>
            </a:r>
            <a:r>
              <a:rPr lang="en-US" dirty="0"/>
              <a:t> Positive (Average polarity: 0.159)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Dominant emotion.</a:t>
            </a:r>
            <a:r>
              <a:rPr lang="en-US" dirty="0"/>
              <a:t> Satisfaction. The audience generally shows approval and contentment rather than extreme excitement or anger.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Engagement style:</a:t>
            </a:r>
            <a:r>
              <a:rPr lang="en-US" dirty="0"/>
              <a:t> </a:t>
            </a:r>
            <a:r>
              <a:rPr lang="en-US" b="1" dirty="0"/>
              <a:t>Moderately expressive and balanced</a:t>
            </a:r>
            <a:r>
              <a:rPr lang="en-US" dirty="0"/>
              <a:t>. The average subjectivity score (0.48) indicates that the content is more objective than opinion-based, and the audience responds in a measured way.</a:t>
            </a:r>
          </a:p>
          <a:p>
            <a:r>
              <a:rPr lang="en-US" b="1" dirty="0"/>
              <a:t>Key audience response patterns.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Positivity is the norm.</a:t>
            </a:r>
            <a:r>
              <a:rPr lang="en-US" dirty="0"/>
              <a:t> Audiences are far more likely to react positively than negatively.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Controversy attracts attention:</a:t>
            </a:r>
            <a:r>
              <a:rPr lang="en-US" dirty="0"/>
              <a:t> Negative content, though less common is a significant engagement magnet.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Lifestyle content wins hearts:</a:t>
            </a:r>
            <a:r>
              <a:rPr lang="en-US" dirty="0"/>
              <a:t> Travel, animals, and sports are "safe" and highly positive categories.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Information can be divisive:</a:t>
            </a:r>
            <a:r>
              <a:rPr lang="en-US" dirty="0"/>
              <a:t> News and political content while engaging creates the most polarized reactions.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7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536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YouTube Audience Reaction Analysis. US Videos </vt:lpstr>
      <vt:lpstr>OVERVIEW</vt:lpstr>
      <vt:lpstr>BUSINESS UNDERSTANDING</vt:lpstr>
      <vt:lpstr>METHODOLOGY</vt:lpstr>
      <vt:lpstr>DATASET STATISTICS </vt:lpstr>
      <vt:lpstr>TOP 20 TF-IDF TERMS</vt:lpstr>
      <vt:lpstr>TOP 20 MOST FREQUENT WORDS</vt:lpstr>
      <vt:lpstr>SENTIMENT ANALYSIS</vt:lpstr>
      <vt:lpstr>SENTIMENT DISTRIBUTION</vt:lpstr>
      <vt:lpstr>SENTIMENT STATISTICS  </vt:lpstr>
      <vt:lpstr>SENTIMENT DISTRUBUTION</vt:lpstr>
      <vt:lpstr>SENTIMENT ANALYSIS VISUALIZATION</vt:lpstr>
      <vt:lpstr>POSITIVE SENTIMENT WORD CLOUD</vt:lpstr>
      <vt:lpstr>NEGATIVE SENTIMENT WORD CLOUD</vt:lpstr>
      <vt:lpstr>NEUTRAL SENTIMENT WORD CLOUD</vt:lpstr>
      <vt:lpstr>ENGAGEMENT ANALYSIS</vt:lpstr>
      <vt:lpstr>SUMMARY OF SENTIMENT DISTRIBUTION</vt:lpstr>
      <vt:lpstr>Interpretation - Emotional Tone &amp; Response Patterns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2</cp:revision>
  <dcterms:created xsi:type="dcterms:W3CDTF">2025-11-05T07:44:39Z</dcterms:created>
  <dcterms:modified xsi:type="dcterms:W3CDTF">2025-11-05T09:00:08Z</dcterms:modified>
</cp:coreProperties>
</file>