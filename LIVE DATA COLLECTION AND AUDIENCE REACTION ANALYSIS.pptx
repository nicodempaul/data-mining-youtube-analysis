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028A-8F87-F625-C7CA-447285694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6EE46D-FD4B-4A4C-B94D-63D2D0129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07885-EF0D-16EF-95A4-2D20BCD57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D8936-2D94-87E9-C71B-08501A2F8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917C-8188-AE4D-20AE-445E80B4E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43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30F19-2BBC-DEB6-D714-39A247C99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E1776-1F7F-6A73-9C0F-2055FBF89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752F0-7D21-F61B-3C3F-F5D27D40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66056-F22F-CDCE-1B3D-CC606375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D231-7438-D42E-2337-F134C8AB0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20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8D595-B3ED-5612-BEF6-0D1241BF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B1AAB-F26A-A02A-71F2-DDF23124F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CD07D-2A4D-6FC5-048B-C14517F55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BFFC3-E256-673A-B1CC-B6E0E7115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BAC51-8D70-4935-A5FA-006EFC1A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41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FDBD-B185-D0D8-7DCE-086E6A6A4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E5C56-A96A-40F5-7D7E-64973160D7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5EA2C0-8E06-74BC-217E-A7ECC8D4F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CD444F-CAB4-CF9C-2FD3-D28F4D2C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174BC-0BD3-E999-059D-0AA134FAE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A2C10-7F86-77E8-B0A9-2DE26CEF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5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355F8-077D-D05C-A6CA-7A0BEE0DC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57506-377B-F141-864F-E1FB86C6B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1CEE77-FD1A-3DBD-6AB1-A216DE5C36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6D071-27BF-8873-48BE-37AF27400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37EB87-9713-CD42-D417-07FEC0BBB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4A73D-F3EF-7BA4-5217-25D834BA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F41AC8-45CC-2A2C-E598-F54D6B9BF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BAFC80-5664-ABFA-3723-8A02F54E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3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FDB73-A250-1332-9FC8-29A0D642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2DFE1-5DB4-B517-B3E7-6894728F5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7D90F-C823-F423-653D-5336083C5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E06448-EDF1-3D73-FA97-52786A972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42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E67BD3-058E-1E43-6040-58D91F537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08D21A-D70E-2E49-E2D9-2B6E9BB0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CCF0F-2651-5206-9236-4F2F415E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487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5AAE6-97CD-D950-8A12-37BC95CE6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3CE1-719C-629A-F0E0-184BEE6F5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D92AE-A1D6-CF81-09FB-434DF4307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7B30D-F87F-B7E6-6D73-80F22B1FF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F2D36-1237-A54A-A3A2-CCAF72FB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2DE2B-7777-7F1A-8D7C-FE59D6C50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502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C3F7C-C595-0893-0009-FE805BDE4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91AA5A-7A67-9D5A-2A27-BF79AADB88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2B5A30-5853-AD49-3DB4-76BD0DCC4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F4FE8-85B0-D766-ECF2-ECDE50C9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FAEBA-5995-7661-2C2C-9EEF98388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377AD-A443-4047-AD3D-314E7621B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91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24E9E-7B58-5E51-446A-3A6683DE1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154396-BEDC-578F-17D0-17112A48A4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CB84B-F892-06CD-DD87-7F458E80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5E2F5-53A3-F80C-FDAD-0FDE15D43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7F1AA-F9D7-8720-DDF4-2ECD395F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88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85DB16-9F85-42DF-38D8-52C8D2FA2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0D200-3C21-B33D-7C43-7587A7618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EF413-6B86-D0CC-982A-6FBD1FDE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60CA9-80E5-070B-F37C-CEE1112AD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DE32-61FE-F6AC-4B61-D623AD55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9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57B92-ABB0-F1FC-4CB9-794878C4B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98DA9B-053D-BD32-1292-267D9D76B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D7A4F-C080-ABA0-D531-11447267A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175D03-6323-4FC0-916D-A02A9658B7AB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491DF-A509-5B7B-E985-09AA2514B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1618D-C709-9583-23C8-D446F2F81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96F97-D96A-42AF-8504-5CFAEC2862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281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EBBAC-6ACC-3A88-7A1B-2AF32A507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427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LIVE DATA COLLECTION AND AUDIENCE REACTION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4CCFB7-DAA1-11AF-6B68-714148A5E2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Group 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92873CE-4AED-0177-0E8F-6A3B07148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701225"/>
              </p:ext>
            </p:extLst>
          </p:nvPr>
        </p:nvGraphicFramePr>
        <p:xfrm>
          <a:off x="2210419" y="405193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2920155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7771510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REG.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9948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TURYA JOHN STEVEN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2023-B071-21285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1223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WALWASA NATHAN 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2023-B071-21203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47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BIRUNGI BRIDGET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2023-B071-22674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628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SSEMANDA JONATHAN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2023-B071-22335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183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NALULE CATHERINE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2023-B071-22337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NSUBUGA NICHOLAS PAUL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2023-B071-22173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121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526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7254-CBFB-4807-01DE-32E6122D8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27BF-4820-FA86-6ADD-FA27839D4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Content (as a simple flowchart).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Data collection:</a:t>
            </a:r>
            <a:r>
              <a:rPr lang="en-US" dirty="0"/>
              <a:t> Scraped 2,000 comments from the YouTube video using the </a:t>
            </a:r>
            <a:r>
              <a:rPr lang="en-US" b="1" dirty="0" err="1"/>
              <a:t>apify</a:t>
            </a:r>
            <a:r>
              <a:rPr lang="en-US" b="1" dirty="0"/>
              <a:t> </a:t>
            </a:r>
            <a:r>
              <a:rPr lang="en-US" b="1" dirty="0" err="1"/>
              <a:t>youtube</a:t>
            </a:r>
            <a:r>
              <a:rPr lang="en-US" b="1" dirty="0"/>
              <a:t> comment scraper.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Data Cleaning.</a:t>
            </a:r>
            <a:r>
              <a:rPr lang="en-US" dirty="0"/>
              <a:t> Pre-processed text by removing </a:t>
            </a:r>
            <a:r>
              <a:rPr lang="en-US" dirty="0" err="1"/>
              <a:t>stopwords</a:t>
            </a:r>
            <a:r>
              <a:rPr lang="en-US" dirty="0"/>
              <a:t>, emojis, and punctuation using Python (NLTK, regex).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Feature engineering.</a:t>
            </a:r>
            <a:r>
              <a:rPr lang="en-US" dirty="0"/>
              <a:t> Extracted the most frequent keywords using a Count Vectorizer.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Sentiment Analysis.</a:t>
            </a:r>
            <a:r>
              <a:rPr lang="en-US" dirty="0"/>
              <a:t> Classified each comment as positive, negative, or neutral using </a:t>
            </a:r>
            <a:r>
              <a:rPr lang="en-US" dirty="0" err="1"/>
              <a:t>TextBlob's</a:t>
            </a:r>
            <a:r>
              <a:rPr lang="en-US" dirty="0"/>
              <a:t> polarity model.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Visualization.</a:t>
            </a:r>
            <a:r>
              <a:rPr lang="en-US" dirty="0"/>
              <a:t> Generated plots and word clouds using Matplotlib and </a:t>
            </a:r>
            <a:r>
              <a:rPr lang="en-US" dirty="0" err="1"/>
              <a:t>WordCloud</a:t>
            </a:r>
            <a:r>
              <a:rPr lang="en-US" dirty="0"/>
              <a:t> to visualize findings.</a:t>
            </a:r>
          </a:p>
          <a:p>
            <a:r>
              <a:rPr lang="en-US" b="1" dirty="0"/>
              <a:t>Data source box.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Video: Trump (Mark Angel comedy) episode 203</a:t>
            </a:r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Video URL:</a:t>
            </a:r>
            <a:r>
              <a:rPr lang="en-US" dirty="0"/>
              <a:t> https://youtu.be/Z1yBM1mheU4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b="1" dirty="0"/>
              <a:t>Total comments analyzed:</a:t>
            </a:r>
            <a:r>
              <a:rPr lang="en-US" dirty="0"/>
              <a:t> 1,000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52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6176E-769C-F03D-B2EE-5935A529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2FEEA-48C8-B24E-C1CF-BBD21F05B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Analyze the Comments?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Gauge overall mood.</a:t>
            </a:r>
            <a:r>
              <a:rPr lang="en-US" dirty="0"/>
              <a:t> Determine if the audience response is predominantly positive, negative or neutral.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Identify key topics.</a:t>
            </a:r>
            <a:r>
              <a:rPr lang="en-US" dirty="0"/>
              <a:t> Discover the specific aspects of the video (characters, jokes, themes) that viewers are discussing.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Uncover response patterns.</a:t>
            </a:r>
            <a:r>
              <a:rPr lang="en-US" dirty="0"/>
              <a:t> Find recurring themes to understand the video's impact and long-term appeal.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/>
              <a:t>Actionable insights.</a:t>
            </a:r>
            <a:r>
              <a:rPr lang="en-US" dirty="0"/>
              <a:t> Translate the data into strategic recommendations for future content and community engagement.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0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193BD-C5F4-EF9B-2C02-2532331C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SAMPLE COMMENTS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D0A411-1186-0A89-299C-A4B5643F44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305" y="1825625"/>
            <a:ext cx="97493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46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D516-9655-7955-118D-E90A4A9D7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SAMPLE CLEANING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D7AB18-D215-9C99-9690-A9D6ADE1CE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505" y="1825625"/>
            <a:ext cx="88089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018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42B4-DECF-E571-1169-A7056E75A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DISTRIBUTION OF COMMENT LENGTH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CA93EB-9E71-360D-298F-739E255BF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825625"/>
            <a:ext cx="10206788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76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F6D80-2CDD-AF63-AD7D-4B24A396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9389"/>
          </a:xfrm>
        </p:spPr>
        <p:txBody>
          <a:bodyPr/>
          <a:lstStyle/>
          <a:p>
            <a:pPr algn="ctr"/>
            <a:r>
              <a:rPr lang="en-US" b="1" dirty="0"/>
              <a:t>TOP 30 TF-IDF TERMS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ED4462-A1F1-5351-F81A-442F0F69AA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3914" y="1197429"/>
            <a:ext cx="4447144" cy="55734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5A1DF9-1BAA-3197-6E8A-40C1EF8C9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721" y="1821758"/>
            <a:ext cx="4058216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69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E83C3-16FE-6BCA-F768-C6A0C243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TOP 10 WORDS AND SENTIMENT DISTRIBUTION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400B4-D3E7-BFB2-BF30-80A9A4EA8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029" y="1899105"/>
            <a:ext cx="11625942" cy="459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422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C24CD-5807-1810-6243-785ED6C4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SENTIMENT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D5AC4B7-9EDC-F870-1852-C1AB1AF33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1086" y="1540770"/>
            <a:ext cx="8871857" cy="516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58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3F2A-14A0-6B33-2926-4EB371C1B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Detailed Sentiment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8CC213-0523-179B-1FE2-772A425A3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9858" y="1690688"/>
            <a:ext cx="6152283" cy="478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03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ACEDB-1A18-4D0D-2FD0-3E8ED7FA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WORD CLOUD (POSITIVE)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D10F6A-5EA2-CC97-1A72-2CCA9777B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625" y="1967706"/>
            <a:ext cx="75247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59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08236-1D9C-C274-6AC9-DA31C5096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WORD CLOUD (NEGATIVE)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E71A85-2CBC-E204-0B12-C3E05FEE6E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625" y="1967706"/>
            <a:ext cx="75247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86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3D8C-62B5-C3BD-013B-6BEEBEAFE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WORD CLOUD (NEUTRAL)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80DB3E-3B7E-A889-C1EB-C37E2BDA3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3625" y="1967706"/>
            <a:ext cx="752475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691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B65D-92F2-2BBB-776E-BD45EDD1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Summary of the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48B3D4-D661-1401-97CC-F35E76BAD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8140" y="1825625"/>
            <a:ext cx="431572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869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68B9-63E2-4A8B-9809-B3F69474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365125"/>
            <a:ext cx="11288486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Interpretation: Emotional tone and response patterns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1C1D2-6E6A-B9B6-4EBC-88844FB00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77882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1. The emotional tone is positive and engaged.</a:t>
            </a:r>
            <a:endParaRPr lang="en-US" dirty="0"/>
          </a:p>
          <a:p>
            <a:pPr lvl="2"/>
            <a:r>
              <a:rPr lang="en-US" dirty="0"/>
              <a:t>The mean polarity score of </a:t>
            </a:r>
            <a:r>
              <a:rPr lang="en-US" b="1" dirty="0"/>
              <a:t>+0.065</a:t>
            </a:r>
            <a:r>
              <a:rPr lang="en-US" dirty="0"/>
              <a:t> confirms a positive skew. The community is not only  just watching, they are actively expressing enjoyment.</a:t>
            </a:r>
          </a:p>
          <a:p>
            <a:pPr marL="457200" lvl="1" indent="0">
              <a:buNone/>
            </a:pPr>
            <a:r>
              <a:rPr lang="en-US" b="1" dirty="0"/>
              <a:t>2. The content is timeless.</a:t>
            </a:r>
            <a:endParaRPr lang="en-US" dirty="0"/>
          </a:p>
          <a:p>
            <a:pPr lvl="2"/>
            <a:r>
              <a:rPr lang="en-US" dirty="0"/>
              <a:t>The most common response pattern is viewers sharing the year they are watching ("anyone 2025"). This is a powerful indicator of content that remains relevant and re-watchable over time.</a:t>
            </a:r>
          </a:p>
          <a:p>
            <a:pPr marL="457200" lvl="1" indent="0">
              <a:buNone/>
            </a:pPr>
            <a:r>
              <a:rPr lang="en-US" b="1" dirty="0"/>
              <a:t>3. Strong brand and character loyalty.</a:t>
            </a:r>
            <a:endParaRPr lang="en-US" dirty="0"/>
          </a:p>
          <a:p>
            <a:pPr lvl="2"/>
            <a:r>
              <a:rPr lang="en-US" dirty="0"/>
              <a:t>Frequent mentions of "Mark Angel" and "Denilson" show that the audience isn't just watching a random video, they are following a brand and its beloved characters.</a:t>
            </a:r>
          </a:p>
          <a:p>
            <a:pPr marL="457200" lvl="1" indent="0">
              <a:buNone/>
            </a:pPr>
            <a:r>
              <a:rPr lang="en-US" b="1" dirty="0"/>
              <a:t>4. Humor is quote-worthy.</a:t>
            </a:r>
            <a:endParaRPr lang="en-US" dirty="0"/>
          </a:p>
          <a:p>
            <a:pPr lvl="2"/>
            <a:r>
              <a:rPr lang="en-US" dirty="0"/>
              <a:t>The analysis of top terms shows that viewers love to repeat memorable lines from the skit, which deepens engagement and creates a shared experience.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305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430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Wingdings</vt:lpstr>
      <vt:lpstr>Office Theme</vt:lpstr>
      <vt:lpstr>LIVE DATA COLLECTION AND AUDIENCE REACTION ANALYSIS</vt:lpstr>
      <vt:lpstr>OVERVIEW</vt:lpstr>
      <vt:lpstr>BUSINESS UNDERSTANDING</vt:lpstr>
      <vt:lpstr>SAMPLE COMMENTS</vt:lpstr>
      <vt:lpstr>SAMPLE CLEANING </vt:lpstr>
      <vt:lpstr>DISTRIBUTION OF COMMENT LENGTH</vt:lpstr>
      <vt:lpstr>TOP 30 TF-IDF TERMS</vt:lpstr>
      <vt:lpstr>TOP 10 WORDS AND SENTIMENT DISTRIBUTION </vt:lpstr>
      <vt:lpstr>SENTIMENT ANALYSIS</vt:lpstr>
      <vt:lpstr>Detailed Sentiment Statistics</vt:lpstr>
      <vt:lpstr>WORD CLOUD (POSITIVE)</vt:lpstr>
      <vt:lpstr>WORD CLOUD (NEGATIVE)</vt:lpstr>
      <vt:lpstr>WORD CLOUD (NEUTRAL)</vt:lpstr>
      <vt:lpstr>Summary of the analysis</vt:lpstr>
      <vt:lpstr>Interpretation: Emotional tone and response patterns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STEVEN</dc:creator>
  <cp:lastModifiedBy>JOHN STEVEN</cp:lastModifiedBy>
  <cp:revision>6</cp:revision>
  <dcterms:created xsi:type="dcterms:W3CDTF">2025-11-05T05:38:19Z</dcterms:created>
  <dcterms:modified xsi:type="dcterms:W3CDTF">2025-11-05T09:00:26Z</dcterms:modified>
</cp:coreProperties>
</file>